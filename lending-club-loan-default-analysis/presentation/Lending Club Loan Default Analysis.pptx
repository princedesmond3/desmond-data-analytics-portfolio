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16" y="64"/>
      </p:cViewPr>
      <p:guideLst>
        <p:guide orient="horz" pos="2664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HIS-PC\Downloads\loan_default_rate_dashboard_xlx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HIS-PC\Downloads\loan_default_rate_dashboard_xlx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HIS-PC\Downloads\loan_default_rate_dashboard_xlx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baseline="0"/>
              <a:t>Default Rate by Loan Purpose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0.31166151699391997"/>
          <c:y val="0.20320261437908499"/>
          <c:w val="0.57938747656542933"/>
          <c:h val="0.68568627450980391"/>
        </c:manualLayout>
      </c:layout>
      <c:barChart>
        <c:barDir val="bar"/>
        <c:grouping val="clustered"/>
        <c:varyColors val="0"/>
        <c:ser>
          <c:idx val="0"/>
          <c:order val="0"/>
          <c:tx>
            <c:v>pivot purpose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Purpose!$A$4:$A$10</c:f>
              <c:strCache>
                <c:ptCount val="7"/>
                <c:pt idx="0">
                  <c:v>all_other</c:v>
                </c:pt>
                <c:pt idx="1">
                  <c:v>credit_card</c:v>
                </c:pt>
                <c:pt idx="2">
                  <c:v>debt_consolidation</c:v>
                </c:pt>
                <c:pt idx="3">
                  <c:v>educational</c:v>
                </c:pt>
                <c:pt idx="4">
                  <c:v>home_improvement</c:v>
                </c:pt>
                <c:pt idx="5">
                  <c:v>major_purchase</c:v>
                </c:pt>
                <c:pt idx="6">
                  <c:v>small_business</c:v>
                </c:pt>
              </c:strCache>
            </c:strRef>
          </c:cat>
          <c:val>
            <c:numRef>
              <c:f>Purpose!$A$4:$A$10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59-4765-87F6-10163B7B759E}"/>
            </c:ext>
          </c:extLst>
        </c:ser>
        <c:ser>
          <c:idx val="1"/>
          <c:order val="1"/>
          <c:tx>
            <c:v>Default rate</c:v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Purpose!$A$4:$A$10</c:f>
              <c:strCache>
                <c:ptCount val="7"/>
                <c:pt idx="0">
                  <c:v>all_other</c:v>
                </c:pt>
                <c:pt idx="1">
                  <c:v>credit_card</c:v>
                </c:pt>
                <c:pt idx="2">
                  <c:v>debt_consolidation</c:v>
                </c:pt>
                <c:pt idx="3">
                  <c:v>educational</c:v>
                </c:pt>
                <c:pt idx="4">
                  <c:v>home_improvement</c:v>
                </c:pt>
                <c:pt idx="5">
                  <c:v>major_purchase</c:v>
                </c:pt>
                <c:pt idx="6">
                  <c:v>small_business</c:v>
                </c:pt>
              </c:strCache>
            </c:strRef>
          </c:cat>
          <c:val>
            <c:numRef>
              <c:f>Purpose!$D$4:$D$10</c:f>
              <c:numCache>
                <c:formatCode>0.00%</c:formatCode>
                <c:ptCount val="7"/>
                <c:pt idx="0">
                  <c:v>0.16602316602316602</c:v>
                </c:pt>
                <c:pt idx="1">
                  <c:v>0.11568938193343899</c:v>
                </c:pt>
                <c:pt idx="2">
                  <c:v>0.15238817285822592</c:v>
                </c:pt>
                <c:pt idx="3">
                  <c:v>0.20116618075801748</c:v>
                </c:pt>
                <c:pt idx="4">
                  <c:v>0.17011128775834658</c:v>
                </c:pt>
                <c:pt idx="5">
                  <c:v>0.11212814645308924</c:v>
                </c:pt>
                <c:pt idx="6">
                  <c:v>0.27786752827140548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59-4765-87F6-10163B7B75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10614191"/>
        <c:axId val="1910615631"/>
      </c:barChart>
      <c:catAx>
        <c:axId val="191061419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0615631"/>
        <c:crosses val="autoZero"/>
        <c:auto val="1"/>
        <c:lblAlgn val="ctr"/>
        <c:lblOffset val="100"/>
        <c:noMultiLvlLbl val="0"/>
      </c:catAx>
      <c:valAx>
        <c:axId val="19106156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10614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>
      <a:outerShdw blurRad="546100" dir="5400000" sx="102000" sy="102000" algn="ctr" rotWithShape="0">
        <a:prstClr val="black">
          <a:alpha val="2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baseline="0"/>
              <a:t>Default Rate by FICO Band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0.18406121769990019"/>
          <c:y val="0.17213017751479293"/>
          <c:w val="0.77167318873873159"/>
          <c:h val="0.71544378698224853"/>
        </c:manualLayout>
      </c:layout>
      <c:barChart>
        <c:barDir val="bar"/>
        <c:grouping val="clustered"/>
        <c:varyColors val="0"/>
        <c:ser>
          <c:idx val="0"/>
          <c:order val="0"/>
          <c:tx>
            <c:v>pivot fico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Fico_band!$A$10:$A$12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Fico_band!$A$10:$A$12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6B-4939-A2FC-977825F4436C}"/>
            </c:ext>
          </c:extLst>
        </c:ser>
        <c:ser>
          <c:idx val="1"/>
          <c:order val="1"/>
          <c:tx>
            <c:v>Default rate</c:v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Fico_band!$A$10:$A$12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Fico_band!$D$10:$D$12</c:f>
              <c:numCache>
                <c:formatCode>0.00%</c:formatCode>
                <c:ptCount val="3"/>
                <c:pt idx="0">
                  <c:v>0.12301661377636737</c:v>
                </c:pt>
                <c:pt idx="1">
                  <c:v>0.32034632034632032</c:v>
                </c:pt>
                <c:pt idx="2">
                  <c:v>0.20050125313283207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6B-4939-A2FC-977825F443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5627791"/>
        <c:axId val="1900946815"/>
      </c:barChart>
      <c:catAx>
        <c:axId val="15627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946815"/>
        <c:crosses val="autoZero"/>
        <c:auto val="1"/>
        <c:lblAlgn val="ctr"/>
        <c:lblOffset val="100"/>
        <c:noMultiLvlLbl val="0"/>
      </c:catAx>
      <c:valAx>
        <c:axId val="19009468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6277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>
      <a:outerShdw blurRad="546100" dir="5400000" sx="102000" sy="102000" algn="ctr" rotWithShape="0">
        <a:prstClr val="black">
          <a:alpha val="2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baseline="0"/>
              <a:t>Default Rate by Interest Rate Band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0.1153532421350557"/>
          <c:y val="0.1711221168025375"/>
          <c:w val="0.83193285214348212"/>
          <c:h val="0.70026821735622269"/>
        </c:manualLayout>
      </c:layout>
      <c:lineChart>
        <c:grouping val="standard"/>
        <c:varyColors val="0"/>
        <c:ser>
          <c:idx val="1"/>
          <c:order val="0"/>
          <c:tx>
            <c:v>pivot</c:v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int_rate!$E$4:$E$8</c:f>
              <c:strCache>
                <c:ptCount val="4"/>
                <c:pt idx="0">
                  <c:v>5%-10%</c:v>
                </c:pt>
                <c:pt idx="1">
                  <c:v>10%-15%</c:v>
                </c:pt>
                <c:pt idx="2">
                  <c:v>15%-2%</c:v>
                </c:pt>
                <c:pt idx="3">
                  <c:v>20%-25%</c:v>
                </c:pt>
              </c:strCache>
            </c:strRef>
          </c:cat>
          <c:val>
            <c:numRef>
              <c:f>int_rate!$A$13:$A$16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3D-4E56-9AA5-0FAB85BE9759}"/>
            </c:ext>
          </c:extLst>
        </c:ser>
        <c:ser>
          <c:idx val="0"/>
          <c:order val="1"/>
          <c:tx>
            <c:v>default</c:v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int_rate!$E$4:$E$8</c:f>
              <c:strCache>
                <c:ptCount val="4"/>
                <c:pt idx="0">
                  <c:v>5%-10%</c:v>
                </c:pt>
                <c:pt idx="1">
                  <c:v>10%-15%</c:v>
                </c:pt>
                <c:pt idx="2">
                  <c:v>15%-2%</c:v>
                </c:pt>
                <c:pt idx="3">
                  <c:v>20%-25%</c:v>
                </c:pt>
              </c:strCache>
            </c:strRef>
          </c:cat>
          <c:val>
            <c:numRef>
              <c:f>int_rate!$D$13:$D$16</c:f>
              <c:numCache>
                <c:formatCode>0.00%</c:formatCode>
                <c:ptCount val="4"/>
                <c:pt idx="0">
                  <c:v>7.414187643020595E-2</c:v>
                </c:pt>
                <c:pt idx="1">
                  <c:v>0.17076434186318781</c:v>
                </c:pt>
                <c:pt idx="2">
                  <c:v>0.24473493100944083</c:v>
                </c:pt>
                <c:pt idx="3">
                  <c:v>0.35135135135135137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3D-4E56-9AA5-0FAB85BE97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86209007"/>
        <c:axId val="1486204687"/>
      </c:lineChart>
      <c:catAx>
        <c:axId val="1486209007"/>
        <c:scaling>
          <c:orientation val="minMax"/>
        </c:scaling>
        <c:delete val="0"/>
        <c:axPos val="b"/>
        <c:numFmt formatCode="0.0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6204687"/>
        <c:crosses val="autoZero"/>
        <c:auto val="1"/>
        <c:lblAlgn val="ctr"/>
        <c:lblOffset val="100"/>
        <c:noMultiLvlLbl val="0"/>
      </c:catAx>
      <c:valAx>
        <c:axId val="14862046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86209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>
      <a:outerShdw blurRad="546100" dir="5400000" sx="102000" sy="102000" algn="ctr" rotWithShape="0">
        <a:prstClr val="black">
          <a:alpha val="2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6A7A-9E58-9DE4-5DA1-5B95CD7F6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099D9-0DF9-B4EC-47C3-FEE8492BC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9EB12-010A-6C0A-AC7F-6E019578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0E144-E0F9-A1E2-100F-03458D7C7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9B7E2-EF12-9CD8-8426-F5B89555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778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2D9A-8D50-9AA6-E9A3-CA004CCE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A35B-AF2E-AA5D-A52A-FE02BFB07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216CD-8A51-A4CA-E272-988AE0C2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C8974-528B-6470-2B6A-DB1A6A93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730D1-433E-C0E1-E81E-B43ED8E9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08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175D-545E-FB53-DE03-F7936BB9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BC17B-8787-8A84-8B26-737F03BE1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2BA7-5584-630C-47B9-3654E3DE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8B703-5419-510B-AE01-674932C2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7FF89-B8AF-E77B-BBDE-F5595D5A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44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0995-032D-092C-B4F5-00EE42BE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18628-ADF7-1EC2-D66D-BFB60D13D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D0B65-817B-C1D9-F569-43457CC5B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13A19-D48F-FA3B-5347-2B08A29D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0BC90-0C99-FC06-50CB-00D4B157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A6F8B-A221-36C5-413C-D1DCA436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74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9CFE-D59D-C0E5-064D-6D37FEBA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DC22D-9A24-A27C-DCCB-1F538544E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82E88-E392-4C88-A6AE-AB97D53F9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D6E17-21DF-91E3-1E04-AA6D71131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84BDA-6FFF-5CCD-50ED-FAF3473D3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442CE-27FE-B372-22EF-8DF37956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A137-9C3A-9C79-1CF7-A877F43D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CB8DB-88C5-A9A2-F8A5-0F0A8DE9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15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4145-CE60-BBDE-8169-5A4BD057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01C2D-48AD-C2AD-7B8D-3BB239F0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61E66-B23B-D1B3-EC8D-FCC7F5FD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BBBCE-857B-33D0-6499-5472C30F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820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0FF15-13E2-C7BE-5503-53E74BC3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03692-0AED-0879-B0EA-02DC2816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E5340-A4D1-B17F-22B8-225926F2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57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4BF6-CBE2-E3C8-15E3-6025B556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61750-F6EB-251B-71A6-8E6239398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7DBE5-C1B1-E61C-0D62-B817068E6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62B9A-5D2E-1EC6-23E4-DFF04D63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46AA0-6796-F624-83D5-8C53F6CC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5C3EC-B1EC-4CEB-FB55-00B37BAA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69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70FA-3C97-D3AB-144E-EF277AE9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993D35-E1F6-3BD1-341D-39345FA75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453D0-8526-BB68-5EA4-7DD59E32A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34766-18DA-0442-5D03-1A6046B2C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44B4E-E9E9-2B1F-29CA-30E9BD6B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56B48-7923-F744-348B-63E37F63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32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E998-939A-91A7-F8DA-8EFE779E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9EB5F-5B76-1D0E-62B2-ED3556FEF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2E01C-7CEE-BA7F-EF8D-7ACD25DD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5F75B-8789-8387-15AB-3AB1ACB0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3F528-FB5F-48D4-89C1-98793BD5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7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6EA05-5AD8-AD5A-B19D-78DACF2CD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03B6C-38AF-DEBC-4830-0F3F256BC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EE078-7569-46AE-F9A9-ACF2ADC5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C1B14-E64A-9CD0-2566-65788B86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7E5CE-551C-D804-3D7E-BA62648D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25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7845F-1833-BEC3-170A-E7047CD35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48718-2E84-4E42-9646-E43E6219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450E2-CF57-92C7-3B68-27CD6B7F6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C6911-66FE-4B32-B14E-099D65912620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66A79-3E72-4D8B-9F2A-0CBA35F0E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50DF-ABA6-D6ED-AC32-F8B9273E9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9FFE4-CA0D-407E-89C2-A713CEFAF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64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11EA-8E83-B7AA-8170-787BC1348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Lending Club Loan Default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1821D-DBCF-97E8-AE3B-275AA896C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Credit Risk Analysis using Excel</a:t>
            </a:r>
          </a:p>
          <a:p>
            <a:r>
              <a:rPr lang="en-GB" b="1" i="1" dirty="0">
                <a:solidFill>
                  <a:srgbClr val="002060"/>
                </a:solidFill>
              </a:rPr>
              <a:t>Name: </a:t>
            </a:r>
            <a:r>
              <a:rPr lang="en-GB" i="1" dirty="0">
                <a:solidFill>
                  <a:srgbClr val="002060"/>
                </a:solidFill>
              </a:rPr>
              <a:t>Chukwuemeka Nnamani — Data Analyst Portfolio Project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b="1" dirty="0">
                <a:solidFill>
                  <a:srgbClr val="002060"/>
                </a:solidFill>
              </a:rPr>
              <a:t>Tools:</a:t>
            </a:r>
            <a:r>
              <a:rPr lang="en-GB" dirty="0">
                <a:solidFill>
                  <a:srgbClr val="002060"/>
                </a:solidFill>
              </a:rPr>
              <a:t> Excel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b="1" dirty="0">
                <a:solidFill>
                  <a:srgbClr val="002060"/>
                </a:solidFill>
              </a:rPr>
              <a:t>Date:</a:t>
            </a:r>
            <a:r>
              <a:rPr lang="en-GB" dirty="0">
                <a:solidFill>
                  <a:srgbClr val="002060"/>
                </a:solidFill>
              </a:rPr>
              <a:t> </a:t>
            </a:r>
            <a:r>
              <a:rPr lang="en-GB" i="1" dirty="0">
                <a:solidFill>
                  <a:srgbClr val="002060"/>
                </a:solidFill>
              </a:rPr>
              <a:t>December 2025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321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E92333E-2BE9-08AB-0E94-7431A5278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84716" y="787085"/>
            <a:ext cx="38416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sz="4000" b="1" dirty="0">
                <a:solidFill>
                  <a:srgbClr val="002060"/>
                </a:solidFill>
                <a:latin typeface="+mn-lt"/>
              </a:rPr>
              <a:t>Project Overview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B2BEFE-8649-F268-CB6A-D1069ACDF9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494" y="1775426"/>
            <a:ext cx="909761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Dataset size: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9,578 loans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Goal: Identify major factors that drive loan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Tools: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Excel (Pivot tables, KPIs, Dashboard, Slicers)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Deliverable: Interactive 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118672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3693-90F6-D758-A336-85B163D9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2060"/>
                </a:solidFill>
                <a:latin typeface="+mn-lt"/>
              </a:rPr>
              <a:t>Business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BE8F48-9933-58C0-358D-E96F9894A7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3870" y="1690688"/>
            <a:ext cx="895148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Lending platforms lose money when borrowers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Need to understand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who is likely to default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This helps lenders: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Set better interest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Approve safer borrowers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Reduce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65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DA1B4-EDEC-F05C-D15D-40495522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2060"/>
                </a:solidFill>
                <a:latin typeface="+mn-lt"/>
              </a:rPr>
              <a:t>Dataset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14632-44D1-38D6-35E7-C7509E73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Columns </a:t>
            </a:r>
            <a:r>
              <a:rPr lang="en-GB" dirty="0" err="1">
                <a:solidFill>
                  <a:srgbClr val="002060"/>
                </a:solidFill>
              </a:rPr>
              <a:t>analyzed</a:t>
            </a:r>
            <a:r>
              <a:rPr lang="en-GB" dirty="0">
                <a:solidFill>
                  <a:srgbClr val="002060"/>
                </a:solidFill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</a:rPr>
              <a:t>FICO Score</a:t>
            </a:r>
          </a:p>
          <a:p>
            <a:r>
              <a:rPr lang="en-GB" dirty="0">
                <a:solidFill>
                  <a:srgbClr val="002060"/>
                </a:solidFill>
              </a:rPr>
              <a:t>DTI (Debt-to-Income)</a:t>
            </a:r>
          </a:p>
          <a:p>
            <a:r>
              <a:rPr lang="en-GB" dirty="0">
                <a:solidFill>
                  <a:srgbClr val="002060"/>
                </a:solidFill>
              </a:rPr>
              <a:t>Interest Rate</a:t>
            </a:r>
          </a:p>
          <a:p>
            <a:r>
              <a:rPr lang="en-GB" dirty="0">
                <a:solidFill>
                  <a:srgbClr val="002060"/>
                </a:solidFill>
              </a:rPr>
              <a:t>Loan Purpose</a:t>
            </a:r>
          </a:p>
          <a:p>
            <a:r>
              <a:rPr lang="en-GB" dirty="0">
                <a:solidFill>
                  <a:srgbClr val="002060"/>
                </a:solidFill>
              </a:rPr>
              <a:t>Revolving Utilization</a:t>
            </a:r>
          </a:p>
          <a:p>
            <a:r>
              <a:rPr lang="en-GB" dirty="0">
                <a:solidFill>
                  <a:srgbClr val="002060"/>
                </a:solidFill>
              </a:rPr>
              <a:t>Credit Policy</a:t>
            </a:r>
          </a:p>
          <a:p>
            <a:r>
              <a:rPr lang="en-GB" dirty="0">
                <a:solidFill>
                  <a:srgbClr val="002060"/>
                </a:solidFill>
              </a:rPr>
              <a:t>Loan Status (Paid vs Default)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90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1C4E-6646-6B76-3479-B4A5EF36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2060"/>
                </a:solidFill>
                <a:latin typeface="+mn-lt"/>
              </a:rPr>
              <a:t>Key KPIs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19A2A-9ED5-9DE6-1AAA-E3C174FF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0456" y="1597023"/>
            <a:ext cx="2460398" cy="1560956"/>
          </a:xfrm>
          <a:prstGeom prst="roundRect">
            <a:avLst/>
          </a:prstGeom>
          <a:solidFill>
            <a:schemeClr val="bg1"/>
          </a:solidFill>
          <a:ln>
            <a:solidFill>
              <a:srgbClr val="E8F1FF"/>
            </a:solidFill>
          </a:ln>
          <a:effectLst>
            <a:outerShdw blurRad="5461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>
              <a:buNone/>
            </a:pPr>
            <a:r>
              <a:rPr lang="en-GB" sz="2400" b="1" dirty="0">
                <a:solidFill>
                  <a:srgbClr val="002060"/>
                </a:solidFill>
              </a:rPr>
              <a:t>Total Loans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F2373057-DBAB-4DE5-8740-284DFBA2C025}"/>
              </a:ext>
            </a:extLst>
          </p:cNvPr>
          <p:cNvSpPr txBox="1"/>
          <p:nvPr/>
        </p:nvSpPr>
        <p:spPr>
          <a:xfrm>
            <a:off x="2469999" y="1974584"/>
            <a:ext cx="1837871" cy="485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fld id="{82E39BF8-AFD1-48EC-82FF-26655E0141E4}" type="TxLink">
              <a:rPr lang="en-US" sz="3600" b="1">
                <a:solidFill>
                  <a:srgbClr val="002060"/>
                </a:solidFill>
                <a:latin typeface="+mn-lt"/>
                <a:ea typeface="+mn-ea"/>
                <a:cs typeface="+mn-cs"/>
              </a:rPr>
              <a:pPr marL="0" indent="0" algn="ctr"/>
              <a:t>9578</a:t>
            </a:fld>
            <a:endParaRPr lang="en-GB" sz="36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1EB0612-5C9A-C9DF-7E3D-395274F689F4}"/>
              </a:ext>
            </a:extLst>
          </p:cNvPr>
          <p:cNvSpPr txBox="1">
            <a:spLocks/>
          </p:cNvSpPr>
          <p:nvPr/>
        </p:nvSpPr>
        <p:spPr>
          <a:xfrm>
            <a:off x="7676560" y="1597023"/>
            <a:ext cx="2460398" cy="156095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E8F1FF"/>
            </a:solidFill>
            <a:prstDash val="solid"/>
            <a:miter lim="800000"/>
          </a:ln>
          <a:effectLst>
            <a:outerShdw blurRad="5461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>
              <a:buNone/>
            </a:pPr>
            <a:r>
              <a:rPr lang="en-GB" sz="2400" b="1" dirty="0">
                <a:solidFill>
                  <a:srgbClr val="002060"/>
                </a:solidFill>
              </a:rPr>
              <a:t>Default</a:t>
            </a:r>
            <a:r>
              <a:rPr lang="en-GB" sz="2400" dirty="0">
                <a:solidFill>
                  <a:srgbClr val="002060"/>
                </a:solidFill>
              </a:rPr>
              <a:t> </a:t>
            </a:r>
            <a:r>
              <a:rPr lang="en-GB" sz="2400" b="1" dirty="0">
                <a:solidFill>
                  <a:srgbClr val="002060"/>
                </a:solidFill>
              </a:rPr>
              <a:t>Rate</a:t>
            </a:r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1C740DFA-F675-952E-900F-52D86596E446}"/>
              </a:ext>
            </a:extLst>
          </p:cNvPr>
          <p:cNvSpPr txBox="1"/>
          <p:nvPr/>
        </p:nvSpPr>
        <p:spPr>
          <a:xfrm>
            <a:off x="7987823" y="1999984"/>
            <a:ext cx="1837872" cy="459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fld id="{2B15A8C1-C48B-4124-9F28-C3F095F75D90}" type="TxLink">
              <a:rPr lang="en-US" sz="3200" b="1">
                <a:solidFill>
                  <a:srgbClr val="002060"/>
                </a:solidFill>
                <a:latin typeface="+mn-lt"/>
                <a:ea typeface="+mn-ea"/>
                <a:cs typeface="+mn-cs"/>
              </a:rPr>
              <a:pPr marL="0" indent="0" algn="ctr"/>
              <a:t>16%</a:t>
            </a:fld>
            <a:endParaRPr lang="en-GB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E7309CE-3FED-E092-7FC6-62769E121A0B}"/>
              </a:ext>
            </a:extLst>
          </p:cNvPr>
          <p:cNvSpPr txBox="1">
            <a:spLocks/>
          </p:cNvSpPr>
          <p:nvPr/>
        </p:nvSpPr>
        <p:spPr>
          <a:xfrm>
            <a:off x="2130456" y="4709439"/>
            <a:ext cx="2460398" cy="156095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E8F1FF"/>
            </a:solidFill>
            <a:prstDash val="solid"/>
            <a:miter lim="800000"/>
          </a:ln>
          <a:effectLst>
            <a:outerShdw blurRad="5461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>
              <a:buNone/>
            </a:pPr>
            <a:r>
              <a:rPr lang="en-GB" sz="2400" b="1" dirty="0">
                <a:solidFill>
                  <a:srgbClr val="002060"/>
                </a:solidFill>
              </a:rPr>
              <a:t>Average</a:t>
            </a:r>
            <a:r>
              <a:rPr lang="en-GB" sz="2400" dirty="0">
                <a:solidFill>
                  <a:srgbClr val="002060"/>
                </a:solidFill>
              </a:rPr>
              <a:t> </a:t>
            </a:r>
            <a:r>
              <a:rPr lang="en-GB" sz="2400" b="1" dirty="0">
                <a:solidFill>
                  <a:srgbClr val="002060"/>
                </a:solidFill>
              </a:rPr>
              <a:t>FICO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4E431F90-33BB-AA0D-FF4D-D68F25DAE1C1}"/>
              </a:ext>
            </a:extLst>
          </p:cNvPr>
          <p:cNvSpPr txBox="1"/>
          <p:nvPr/>
        </p:nvSpPr>
        <p:spPr>
          <a:xfrm>
            <a:off x="2441719" y="5069207"/>
            <a:ext cx="1837872" cy="480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fld id="{5C0DD938-C66E-4EC4-A3BD-2692255817B0}" type="TxLink">
              <a:rPr lang="en-US" sz="3600" b="1">
                <a:solidFill>
                  <a:srgbClr val="002060"/>
                </a:solidFill>
                <a:latin typeface="+mn-lt"/>
                <a:ea typeface="+mn-ea"/>
                <a:cs typeface="+mn-cs"/>
              </a:rPr>
              <a:pPr marL="0" indent="0" algn="ctr"/>
              <a:t>711</a:t>
            </a:fld>
            <a:endParaRPr lang="en-GB" sz="36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9BD5A1C-0836-C69C-49CC-1E7CC64B1896}"/>
              </a:ext>
            </a:extLst>
          </p:cNvPr>
          <p:cNvSpPr txBox="1">
            <a:spLocks/>
          </p:cNvSpPr>
          <p:nvPr/>
        </p:nvSpPr>
        <p:spPr>
          <a:xfrm>
            <a:off x="7676560" y="4709439"/>
            <a:ext cx="2460398" cy="156095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E8F1FF"/>
            </a:solidFill>
            <a:prstDash val="solid"/>
            <a:miter lim="800000"/>
          </a:ln>
          <a:effectLst>
            <a:outerShdw blurRad="5461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>
              <a:buNone/>
            </a:pPr>
            <a:r>
              <a:rPr lang="en-GB" sz="2400" b="1" dirty="0" err="1">
                <a:solidFill>
                  <a:srgbClr val="002060"/>
                </a:solidFill>
              </a:rPr>
              <a:t>Avg</a:t>
            </a:r>
            <a:r>
              <a:rPr lang="en-GB" sz="2400" dirty="0">
                <a:solidFill>
                  <a:srgbClr val="002060"/>
                </a:solidFill>
              </a:rPr>
              <a:t> </a:t>
            </a:r>
            <a:r>
              <a:rPr lang="en-GB" sz="2400" b="1" dirty="0">
                <a:solidFill>
                  <a:srgbClr val="002060"/>
                </a:solidFill>
              </a:rPr>
              <a:t>Interest</a:t>
            </a:r>
            <a:r>
              <a:rPr lang="en-GB" sz="2400" dirty="0">
                <a:solidFill>
                  <a:srgbClr val="002060"/>
                </a:solidFill>
              </a:rPr>
              <a:t> </a:t>
            </a:r>
            <a:r>
              <a:rPr lang="en-GB" sz="2400" b="1" dirty="0">
                <a:solidFill>
                  <a:srgbClr val="002060"/>
                </a:solidFill>
              </a:rPr>
              <a:t>Rate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D017AB0F-1C3F-0200-C982-1FEB30A88093}"/>
              </a:ext>
            </a:extLst>
          </p:cNvPr>
          <p:cNvSpPr txBox="1"/>
          <p:nvPr/>
        </p:nvSpPr>
        <p:spPr>
          <a:xfrm>
            <a:off x="7987823" y="5069207"/>
            <a:ext cx="1837872" cy="448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fld id="{9C1B5FD2-8100-45CF-BAB1-44AE1AA0633F}" type="TxLink">
              <a:rPr lang="en-US" sz="3600" b="1">
                <a:solidFill>
                  <a:srgbClr val="002060"/>
                </a:solidFill>
                <a:latin typeface="+mn-lt"/>
                <a:ea typeface="+mn-ea"/>
                <a:cs typeface="+mn-cs"/>
              </a:rPr>
              <a:pPr marL="0" indent="0" algn="ctr"/>
              <a:t>12%</a:t>
            </a:fld>
            <a:endParaRPr lang="en-GB" sz="36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456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D2776-EC81-FE53-6C26-D141FED6A1B4}"/>
              </a:ext>
            </a:extLst>
          </p:cNvPr>
          <p:cNvSpPr txBox="1"/>
          <p:nvPr/>
        </p:nvSpPr>
        <p:spPr>
          <a:xfrm>
            <a:off x="3129699" y="367645"/>
            <a:ext cx="6211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Default</a:t>
            </a:r>
            <a:r>
              <a:rPr lang="en-GB" dirty="0"/>
              <a:t> </a:t>
            </a:r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Rate</a:t>
            </a:r>
            <a:r>
              <a:rPr lang="en-GB" dirty="0"/>
              <a:t> </a:t>
            </a:r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by</a:t>
            </a:r>
            <a:r>
              <a:rPr lang="en-GB" dirty="0"/>
              <a:t> </a:t>
            </a:r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Loan</a:t>
            </a:r>
            <a:r>
              <a:rPr lang="en-GB" dirty="0"/>
              <a:t> </a:t>
            </a:r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Purpose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03DC38A-B39B-4FB4-8156-47065CFF15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1871744"/>
              </p:ext>
            </p:extLst>
          </p:nvPr>
        </p:nvGraphicFramePr>
        <p:xfrm>
          <a:off x="2038277" y="1324534"/>
          <a:ext cx="8104963" cy="2904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4EAE50-3CFD-14BB-024C-F9356AC1B0FE}"/>
              </a:ext>
            </a:extLst>
          </p:cNvPr>
          <p:cNvSpPr txBox="1"/>
          <p:nvPr/>
        </p:nvSpPr>
        <p:spPr>
          <a:xfrm>
            <a:off x="2038278" y="4487025"/>
            <a:ext cx="810496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</a:rPr>
              <a:t>Highest defaults: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Small Business (27.79%)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Educational (20%)</a:t>
            </a:r>
          </a:p>
          <a:p>
            <a:r>
              <a:rPr lang="en-GB" sz="2000" b="1" dirty="0">
                <a:solidFill>
                  <a:srgbClr val="002060"/>
                </a:solidFill>
              </a:rPr>
              <a:t>Safest: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Credit Card (11.57%), Major Purchase (11.21%)</a:t>
            </a:r>
          </a:p>
          <a:p>
            <a:endParaRPr lang="en-GB" dirty="0">
              <a:solidFill>
                <a:srgbClr val="002060"/>
              </a:solidFill>
            </a:endParaRPr>
          </a:p>
          <a:p>
            <a:r>
              <a:rPr lang="en-GB" b="1" dirty="0">
                <a:solidFill>
                  <a:srgbClr val="002060"/>
                </a:solidFill>
              </a:rPr>
              <a:t>📌 Small Business loans are the riskiest category.</a:t>
            </a:r>
          </a:p>
        </p:txBody>
      </p:sp>
    </p:spTree>
    <p:extLst>
      <p:ext uri="{BB962C8B-B14F-4D97-AF65-F5344CB8AC3E}">
        <p14:creationId xmlns:p14="http://schemas.microsoft.com/office/powerpoint/2010/main" val="310491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9AD386-1743-4E25-890D-C8E1EBCE9028}"/>
              </a:ext>
            </a:extLst>
          </p:cNvPr>
          <p:cNvSpPr txBox="1"/>
          <p:nvPr/>
        </p:nvSpPr>
        <p:spPr>
          <a:xfrm>
            <a:off x="3157981" y="452486"/>
            <a:ext cx="7400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Borrower</a:t>
            </a:r>
            <a:r>
              <a:rPr lang="en-GB" dirty="0"/>
              <a:t> </a:t>
            </a:r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Creditworthiness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67328DA-C4E6-44DF-98AB-6FE18BA8AE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3162533"/>
              </p:ext>
            </p:extLst>
          </p:nvPr>
        </p:nvGraphicFramePr>
        <p:xfrm>
          <a:off x="1734532" y="1595797"/>
          <a:ext cx="7446140" cy="2815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2A69FB-F038-90F1-49AC-B88F45846BCB}"/>
              </a:ext>
            </a:extLst>
          </p:cNvPr>
          <p:cNvSpPr txBox="1"/>
          <p:nvPr/>
        </p:nvSpPr>
        <p:spPr>
          <a:xfrm>
            <a:off x="1734532" y="4703976"/>
            <a:ext cx="744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This chart shows that low credit scores has higher probability of </a:t>
            </a:r>
            <a:r>
              <a:rPr lang="en-US" dirty="0" err="1">
                <a:solidFill>
                  <a:srgbClr val="002060"/>
                </a:solidFill>
              </a:rPr>
              <a:t>of</a:t>
            </a:r>
            <a:r>
              <a:rPr lang="en-US" dirty="0">
                <a:solidFill>
                  <a:srgbClr val="002060"/>
                </a:solidFill>
              </a:rPr>
              <a:t> defaulting </a:t>
            </a:r>
          </a:p>
          <a:p>
            <a:r>
              <a:rPr lang="en-US" dirty="0">
                <a:solidFill>
                  <a:srgbClr val="002060"/>
                </a:solidFill>
              </a:rPr>
              <a:t>which means the lower the credit score the higher the risk.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77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FD997D-284A-D5E0-F62B-459FEA69A97B}"/>
              </a:ext>
            </a:extLst>
          </p:cNvPr>
          <p:cNvSpPr txBox="1"/>
          <p:nvPr/>
        </p:nvSpPr>
        <p:spPr>
          <a:xfrm>
            <a:off x="4308049" y="311085"/>
            <a:ext cx="4019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Financial</a:t>
            </a:r>
            <a:r>
              <a:rPr lang="en-GB" dirty="0"/>
              <a:t> </a:t>
            </a:r>
            <a:r>
              <a:rPr lang="en-GB" sz="4000" b="1" dirty="0" err="1">
                <a:solidFill>
                  <a:srgbClr val="002060"/>
                </a:solidFill>
                <a:ea typeface="+mj-ea"/>
                <a:cs typeface="+mj-cs"/>
              </a:rPr>
              <a:t>Behavior</a:t>
            </a:r>
            <a:endParaRPr lang="en-GB" sz="4000" b="1" dirty="0">
              <a:solidFill>
                <a:srgbClr val="002060"/>
              </a:solidFill>
              <a:ea typeface="+mj-ea"/>
              <a:cs typeface="+mj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C7E30E5-365D-4DBE-816D-1B8BE31FE6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5317836"/>
              </p:ext>
            </p:extLst>
          </p:nvPr>
        </p:nvGraphicFramePr>
        <p:xfrm>
          <a:off x="2198534" y="1325414"/>
          <a:ext cx="7775025" cy="3171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683EA4-AD2C-E5F8-83B8-6A5179961FC0}"/>
              </a:ext>
            </a:extLst>
          </p:cNvPr>
          <p:cNvSpPr txBox="1"/>
          <p:nvPr/>
        </p:nvSpPr>
        <p:spPr>
          <a:xfrm>
            <a:off x="2026763" y="4685122"/>
            <a:ext cx="830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This shows that the higher the interest rate the higher the risk of borrowers defaulting 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22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9AB7CE-3F97-2E40-2A9B-06B2A9E62272}"/>
              </a:ext>
            </a:extLst>
          </p:cNvPr>
          <p:cNvSpPr txBox="1"/>
          <p:nvPr/>
        </p:nvSpPr>
        <p:spPr>
          <a:xfrm>
            <a:off x="5382705" y="377073"/>
            <a:ext cx="25074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002060"/>
                </a:solidFill>
                <a:ea typeface="+mj-ea"/>
                <a:cs typeface="+mj-cs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8B02AE-D67C-3396-7000-8D8922DE7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110" y="1084959"/>
            <a:ext cx="77299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Key factors: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FICO, interest rate, loan purpose, utilization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Excel dashboard gives real-time risk insights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Demonstrates: </a:t>
            </a:r>
            <a:r>
              <a:rPr lang="en-GB" dirty="0">
                <a:solidFill>
                  <a:srgbClr val="002060"/>
                </a:solidFill>
              </a:rPr>
              <a:t>Data analysis skills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2060"/>
                </a:solidFill>
                <a:latin typeface="Arial" panose="020B0604020202020204" pitchFamily="34" charset="0"/>
              </a:rPr>
              <a:t>                             </a:t>
            </a:r>
            <a:r>
              <a:rPr lang="en-GB" dirty="0">
                <a:solidFill>
                  <a:srgbClr val="002060"/>
                </a:solidFill>
              </a:rPr>
              <a:t>Dashboard design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                            </a:t>
            </a:r>
            <a:r>
              <a:rPr lang="en-GB" dirty="0">
                <a:solidFill>
                  <a:srgbClr val="002060"/>
                </a:solidFill>
              </a:rPr>
              <a:t>Storytelling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Ready for real-world financial analytics roles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963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3293</TotalTime>
  <Words>266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Lending Club Loan Default Analysis</vt:lpstr>
      <vt:lpstr>Project Overview</vt:lpstr>
      <vt:lpstr>Business Problem</vt:lpstr>
      <vt:lpstr>Dataset Summary</vt:lpstr>
      <vt:lpstr>Key KPIs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THIS-PC</dc:creator>
  <cp:lastModifiedBy>THIS-PC</cp:lastModifiedBy>
  <cp:revision>3</cp:revision>
  <dcterms:created xsi:type="dcterms:W3CDTF">2025-12-11T01:38:16Z</dcterms:created>
  <dcterms:modified xsi:type="dcterms:W3CDTF">2025-12-22T11:46:26Z</dcterms:modified>
</cp:coreProperties>
</file>